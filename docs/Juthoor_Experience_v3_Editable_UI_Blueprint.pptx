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1160" y="731520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9454896" y="841248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381744" y="83210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91472" y="804672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46336" y="86868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00032" y="9144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6064" y="722376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5029200" cy="5943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3200" b="1" lang="ar-JO">
                <a:solidFill>
                  <a:srgbClr val="133D32"/>
                </a:solidFill>
                <a:latin typeface="Noto Sans Arabic"/>
              </a:rPr>
              <a:t>جذور | JUTHOOR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31720"/>
            <a:ext cx="6126480" cy="5943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100" b="1" lang="ar-JO">
                <a:solidFill>
                  <a:srgbClr val="1C352C"/>
                </a:solidFill>
                <a:latin typeface="Noto Sans Arabic"/>
              </a:rPr>
              <a:t>من جذورنا... إلى الأجيال القادمة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044952"/>
            <a:ext cx="6035040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500" b="0" lang="ar-JO">
                <a:solidFill>
                  <a:srgbClr val="66756B"/>
                </a:solidFill>
                <a:latin typeface="Noto Sans Arabic"/>
              </a:rPr>
              <a:t>خطة التجربة الجديدة وبوابات العائلات المستقلة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794760"/>
            <a:ext cx="544068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1" lang="ar-JO">
                <a:solidFill>
                  <a:srgbClr val="B28C54"/>
                </a:solidFill>
                <a:latin typeface="Noto Sans Arabic"/>
              </a:rPr>
              <a:t>النسخة 3.0 — تصور بصري قابل للتحرير · أكتوبر 2026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194560"/>
            <a:ext cx="667512" cy="667512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40864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300" b="1" lang="ar-JO">
                <a:solidFill>
                  <a:srgbClr val="FFFFFF"/>
                </a:solidFill>
                <a:latin typeface="Noto Sans Arabic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953512"/>
            <a:ext cx="73152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FFFFFF"/>
                </a:solidFill>
                <a:latin typeface="Noto Sans Arabic"/>
              </a:rPr>
              <a:t>الشجرة</a:t>
            </a:r>
          </a:p>
        </p:txBody>
      </p:sp>
      <p:sp>
        <p:nvSpPr>
          <p:cNvPr id="18" name="Oval 17"/>
          <p:cNvSpPr/>
          <p:nvPr/>
        </p:nvSpPr>
        <p:spPr>
          <a:xfrm>
            <a:off x="1408176" y="2194560"/>
            <a:ext cx="667512" cy="667512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8176" y="2340864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300" b="1" lang="ar-JO">
                <a:solidFill>
                  <a:srgbClr val="FFFFFF"/>
                </a:solidFill>
                <a:latin typeface="Noto Sans Arabi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2953512"/>
            <a:ext cx="73152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FFFFFF"/>
                </a:solidFill>
                <a:latin typeface="Noto Sans Arabic"/>
              </a:rPr>
              <a:t>الأفخاذ</a:t>
            </a:r>
          </a:p>
        </p:txBody>
      </p:sp>
      <p:sp>
        <p:nvSpPr>
          <p:cNvPr id="21" name="Oval 20"/>
          <p:cNvSpPr/>
          <p:nvPr/>
        </p:nvSpPr>
        <p:spPr>
          <a:xfrm>
            <a:off x="2313432" y="2194560"/>
            <a:ext cx="667512" cy="667512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13432" y="2340864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300" b="1" lang="ar-JO">
                <a:solidFill>
                  <a:srgbClr val="FFFFFF"/>
                </a:solidFill>
                <a:latin typeface="Noto Sans Arab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73152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FFFFFF"/>
                </a:solidFill>
                <a:latin typeface="Noto Sans Arabic"/>
              </a:rPr>
              <a:t>التاريخ</a:t>
            </a:r>
          </a:p>
        </p:txBody>
      </p:sp>
      <p:sp>
        <p:nvSpPr>
          <p:cNvPr id="24" name="Oval 23"/>
          <p:cNvSpPr/>
          <p:nvPr/>
        </p:nvSpPr>
        <p:spPr>
          <a:xfrm>
            <a:off x="3218687" y="2194560"/>
            <a:ext cx="667512" cy="667512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18687" y="2340864"/>
            <a:ext cx="667512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300" b="1" lang="ar-JO">
                <a:solidFill>
                  <a:srgbClr val="FFFFFF"/>
                </a:solidFill>
                <a:latin typeface="Noto Sans Arabi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953512"/>
            <a:ext cx="73152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FFFFFF"/>
                </a:solidFill>
                <a:latin typeface="Noto Sans Arabic"/>
              </a:rPr>
              <a:t>الدليل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840480"/>
            <a:ext cx="3566160" cy="10972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200" b="1" lang="ar-JO">
                <a:solidFill>
                  <a:srgbClr val="FFFFFF"/>
                </a:solidFill>
                <a:latin typeface="Noto Sans Arabic"/>
              </a:rPr>
              <a:t>هوية مستقلة لكل عائلة
ونسب موحّد دون تكرار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منصة واحدة · مواقع عائلية مستقلة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نموذج Subdomain وملكية المحتوى والتفويض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764792"/>
            <a:ext cx="5212080" cy="36118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89320" y="1764792"/>
            <a:ext cx="5669280" cy="36118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057400"/>
            <a:ext cx="4572000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2000" b="1" lang="ar-JO">
                <a:solidFill>
                  <a:srgbClr val="133D32"/>
                </a:solidFill>
                <a:latin typeface="Noto Sans Arabic"/>
              </a:rPr>
              <a:t>juthoor.dopamind.cloud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606040"/>
            <a:ext cx="402336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400" b="1" lang="ar-JO">
                <a:solidFill>
                  <a:srgbClr val="66756B"/>
                </a:solidFill>
                <a:latin typeface="Noto Sans Arabic"/>
              </a:rPr>
              <a:t>المنصة المركزية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3337560"/>
            <a:ext cx="1874519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348532"/>
            <a:ext cx="178307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اكتشف العائلات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3337560"/>
            <a:ext cx="1874519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39" y="3348532"/>
            <a:ext cx="178307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بحث الأنساب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3904487"/>
            <a:ext cx="1874519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915460"/>
            <a:ext cx="178307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إدارة المنصة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3904487"/>
            <a:ext cx="1874519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39" y="3915460"/>
            <a:ext cx="178307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الحوكمة المركزية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057400"/>
            <a:ext cx="5212080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al-zoubi.juthoor.dopamind.cloud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2606040"/>
            <a:ext cx="448056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400" b="1" lang="ar-JO">
                <a:solidFill>
                  <a:srgbClr val="66756B"/>
                </a:solidFill>
                <a:latin typeface="Noto Sans Arabic"/>
              </a:rPr>
              <a:t>بوابة عشيرة الزعبي — المثال الأول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3337560"/>
            <a:ext cx="196596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348532"/>
            <a:ext cx="187451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هوية مستقلة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3337560"/>
            <a:ext cx="196596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3348532"/>
            <a:ext cx="187451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شجرة العشيرة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3904487"/>
            <a:ext cx="196596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915460"/>
            <a:ext cx="187451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المحتوى المفلتر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3904487"/>
            <a:ext cx="196596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3915460"/>
            <a:ext cx="187451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لوحة إدارة خاصة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5687568"/>
            <a:ext cx="9235440" cy="4389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300" b="1" lang="ar-JO">
                <a:solidFill>
                  <a:srgbClr val="B28C54"/>
                </a:solidFill>
                <a:latin typeface="Noto Sans Arabic"/>
              </a:rPr>
              <a:t>المسار الحالي /al-zoubi → تحويل آمن إلى البوابة الجديدة بعد التجهيز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عشيرة الزعبي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بوابة مستقلة · التصميم المقترح لشاشة سطح المكتب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700784"/>
            <a:ext cx="11064240" cy="2011680"/>
          </a:xfrm>
          <a:prstGeom prst="roundRect">
            <a:avLst>
              <a:gd name="adj" fmla="val 16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1965960"/>
            <a:ext cx="5413248" cy="65836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500" b="1" lang="ar-JO">
                <a:solidFill>
                  <a:srgbClr val="FFFFFF"/>
                </a:solidFill>
                <a:latin typeface="Noto Sans Arabic"/>
              </a:rPr>
              <a:t>حكاية الأجداد... تصنع ذاكرة الأجيال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752344"/>
            <a:ext cx="530352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E7EBDC"/>
                </a:solidFill>
                <a:latin typeface="Noto Sans Arabic"/>
              </a:rPr>
              <a:t>تعرّف على أفخاذ العشيرة، استكشف النسب، وشارك في حفظ التاريخ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2395728"/>
            <a:ext cx="4297680" cy="5943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514600"/>
            <a:ext cx="3657600" cy="2743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ابحث عن شخص أو فخذ داخل العشيرة...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3118104"/>
            <a:ext cx="2331720" cy="320040"/>
          </a:xfrm>
          <a:prstGeom prst="roundRect">
            <a:avLst>
              <a:gd name="adj" fmla="val 40000"/>
            </a:avLst>
          </a:prstGeom>
          <a:solidFill>
            <a:srgbClr val="B28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129076"/>
            <a:ext cx="224027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ابدأ باستكشاف الشجرة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968496"/>
            <a:ext cx="267919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114800"/>
            <a:ext cx="2404872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535424"/>
            <a:ext cx="2496312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سجلات منشورة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92424" y="3968496"/>
            <a:ext cx="267919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9584" y="4114800"/>
            <a:ext cx="2404872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83864" y="4535424"/>
            <a:ext cx="2496312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أفخاذ موثقة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68496"/>
            <a:ext cx="267919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114800"/>
            <a:ext cx="2404872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4535424"/>
            <a:ext cx="2496312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دواوين منشورة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43415" y="3968496"/>
            <a:ext cx="267919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0576" y="4114800"/>
            <a:ext cx="2404872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4855" y="4535424"/>
            <a:ext cx="2496312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شخصيات وإنجازات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093208"/>
            <a:ext cx="3547872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39312" y="5294376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5294376"/>
            <a:ext cx="278892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الشجرة الجامعة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" y="5733288"/>
            <a:ext cx="3255264" cy="4389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من الجذور إلى أحدث الأجيال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25112" y="5093208"/>
            <a:ext cx="3547872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70063" y="5294376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9704" y="5294376"/>
            <a:ext cx="278892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الأفخاذ والفروع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71416" y="5733288"/>
            <a:ext cx="3255264" cy="4389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استكشف صفحة كل فخذ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55864" y="5093208"/>
            <a:ext cx="3547872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00816" y="5294376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0456" y="5294376"/>
            <a:ext cx="278892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تاريخ العشيرة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02168" y="5733288"/>
            <a:ext cx="3255264" cy="4389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أصول وهجرات ووثائق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بوابة العائلة — هاتف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نسخة Mobile-first تجمع البحث والأقسام الأساسية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1572768"/>
            <a:ext cx="3657600" cy="4736592"/>
          </a:xfrm>
          <a:prstGeom prst="roundRect">
            <a:avLst>
              <a:gd name="adj" fmla="val 25000"/>
            </a:avLst>
          </a:prstGeom>
          <a:solidFill>
            <a:srgbClr val="1C3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25696" y="1691640"/>
            <a:ext cx="3438144" cy="45171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1865376"/>
            <a:ext cx="3035808" cy="34747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500" b="1" lang="ar-JO">
                <a:solidFill>
                  <a:srgbClr val="133D32"/>
                </a:solidFill>
                <a:latin typeface="Noto Sans Arabic"/>
              </a:rPr>
              <a:t>جذور  |  عشيرة الزعبي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90288" y="2267712"/>
            <a:ext cx="3108960" cy="1152144"/>
          </a:xfrm>
          <a:prstGeom prst="roundRect">
            <a:avLst>
              <a:gd name="adj" fmla="val 16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1456" y="2496312"/>
            <a:ext cx="2761488" cy="3931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FFFFFF"/>
                </a:solidFill>
                <a:latin typeface="Noto Sans Arabic"/>
              </a:rPr>
              <a:t>أهلًا بكم في جذور الزعبي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584448"/>
            <a:ext cx="2926080" cy="411480"/>
          </a:xfrm>
          <a:prstGeom prst="roundRect">
            <a:avLst>
              <a:gd name="adj" fmla="val 16000"/>
            </a:avLst>
          </a:prstGeom>
          <a:solidFill>
            <a:srgbClr val="F6F4EE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648456"/>
            <a:ext cx="27432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ابحث في شجرة العشيرة...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4142232"/>
            <a:ext cx="1463040" cy="640080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7448" y="4270248"/>
            <a:ext cx="1234440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الشجرة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535424"/>
            <a:ext cx="12344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الأنساب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142232"/>
            <a:ext cx="1463040" cy="640080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4270248"/>
            <a:ext cx="1234440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الأفخاذ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4535424"/>
            <a:ext cx="12344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الفروع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873752"/>
            <a:ext cx="1463040" cy="640080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27448" y="5001768"/>
            <a:ext cx="1234440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السند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7448" y="5266944"/>
            <a:ext cx="12344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الدليل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873752"/>
            <a:ext cx="1463040" cy="640080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5001768"/>
            <a:ext cx="1234440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الأخبار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5266944"/>
            <a:ext cx="12344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المجتمع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5797296"/>
            <a:ext cx="2331720" cy="31089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500" b="1" lang="ar-JO">
                <a:solidFill>
                  <a:srgbClr val="133D32"/>
                </a:solidFill>
                <a:latin typeface="Noto Sans Arabic"/>
              </a:rPr>
              <a:t>⌂   ⊙   ◉   ♧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الشجرة الجامعة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الأجداد بسلاسل مضغوطة، والمؤسسون بعُقَد مميزة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755648"/>
            <a:ext cx="11091672" cy="4480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" y="1993392"/>
            <a:ext cx="1188720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004364"/>
            <a:ext cx="109728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كامل الشجرة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21408" y="1993392"/>
            <a:ext cx="91440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2004364"/>
            <a:ext cx="82296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الأجداد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993392"/>
            <a:ext cx="8412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1256" y="2004364"/>
            <a:ext cx="74980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الفروع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34072" y="1975104"/>
            <a:ext cx="3767328" cy="420624"/>
          </a:xfrm>
          <a:prstGeom prst="roundRect">
            <a:avLst>
              <a:gd name="adj" fmla="val 16000"/>
            </a:avLst>
          </a:prstGeom>
          <a:solidFill>
            <a:srgbClr val="F6F4EE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2" y="2029968"/>
            <a:ext cx="3209544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بحث داخل الشجرة ...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1552" y="2670048"/>
            <a:ext cx="758952" cy="530352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2788920"/>
            <a:ext cx="72237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آدم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40112" y="2935224"/>
            <a:ext cx="82296" cy="0"/>
          </a:xfrm>
          <a:prstGeom prst="line">
            <a:avLst/>
          </a:prstGeom>
          <a:ln w="2159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281160" y="2670048"/>
            <a:ext cx="758952" cy="530352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2788920"/>
            <a:ext cx="72237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شيث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89720" y="2935224"/>
            <a:ext cx="82296" cy="0"/>
          </a:xfrm>
          <a:prstGeom prst="line">
            <a:avLst/>
          </a:prstGeom>
          <a:ln w="2159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430768" y="2670048"/>
            <a:ext cx="758952" cy="530352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2788920"/>
            <a:ext cx="72237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أنوش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39328" y="2935224"/>
            <a:ext cx="82296" cy="0"/>
          </a:xfrm>
          <a:prstGeom prst="line">
            <a:avLst/>
          </a:prstGeom>
          <a:ln w="2159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580375" y="2670048"/>
            <a:ext cx="758952" cy="530352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98663" y="2788920"/>
            <a:ext cx="72237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قينان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88936" y="2935224"/>
            <a:ext cx="82295" cy="0"/>
          </a:xfrm>
          <a:prstGeom prst="line">
            <a:avLst/>
          </a:prstGeom>
          <a:ln w="2159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29983" y="2670048"/>
            <a:ext cx="758952" cy="530352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1" y="2788920"/>
            <a:ext cx="72237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مهلائيل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638544" y="2935224"/>
            <a:ext cx="82296" cy="0"/>
          </a:xfrm>
          <a:prstGeom prst="line">
            <a:avLst/>
          </a:prstGeom>
          <a:ln w="2159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879592" y="2670048"/>
            <a:ext cx="758952" cy="530352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79" y="2788920"/>
            <a:ext cx="72237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يارد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788152" y="2935224"/>
            <a:ext cx="82296" cy="0"/>
          </a:xfrm>
          <a:prstGeom prst="line">
            <a:avLst/>
          </a:prstGeom>
          <a:ln w="2159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029200" y="2670048"/>
            <a:ext cx="758952" cy="530352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7488" y="2788920"/>
            <a:ext cx="72237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إدريس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937760" y="2935224"/>
            <a:ext cx="82296" cy="0"/>
          </a:xfrm>
          <a:prstGeom prst="line">
            <a:avLst/>
          </a:prstGeom>
          <a:ln w="2159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178807" y="2670048"/>
            <a:ext cx="758952" cy="530352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97095" y="2788920"/>
            <a:ext cx="72237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متوشلخ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087368" y="2935224"/>
            <a:ext cx="82295" cy="0"/>
          </a:xfrm>
          <a:prstGeom prst="line">
            <a:avLst/>
          </a:prstGeom>
          <a:ln w="2159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328415" y="2670048"/>
            <a:ext cx="758952" cy="530352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6703" y="2788920"/>
            <a:ext cx="72237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لامك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236975" y="2935224"/>
            <a:ext cx="82297" cy="0"/>
          </a:xfrm>
          <a:prstGeom prst="line">
            <a:avLst/>
          </a:prstGeom>
          <a:ln w="2159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2478023" y="2670048"/>
            <a:ext cx="758952" cy="530352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96311" y="2788920"/>
            <a:ext cx="72237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نوح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24712" y="3383280"/>
            <a:ext cx="205740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0432" y="3394252"/>
            <a:ext cx="196596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... جميع الأسماء محفوظة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011680" y="4023360"/>
            <a:ext cx="2148840" cy="868680"/>
          </a:xfrm>
          <a:prstGeom prst="roundRect">
            <a:avLst>
              <a:gd name="adj" fmla="val 16000"/>
            </a:avLst>
          </a:prstGeom>
          <a:solidFill>
            <a:srgbClr val="133D32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94560" y="4133088"/>
            <a:ext cx="1783080" cy="31089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FFFFFF"/>
                </a:solidFill>
                <a:latin typeface="Noto Sans Arabic"/>
              </a:rPr>
              <a:t>الجد الجامع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21408" y="4498848"/>
            <a:ext cx="1929384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FFFFFF"/>
                </a:solidFill>
                <a:latin typeface="Noto Sans Arabic"/>
              </a:rPr>
              <a:t>مؤسس العشيرة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160520" y="4462272"/>
            <a:ext cx="804672" cy="0"/>
          </a:xfrm>
          <a:prstGeom prst="line">
            <a:avLst/>
          </a:prstGeom>
          <a:ln w="2286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4965192" y="4023360"/>
            <a:ext cx="2148840" cy="868680"/>
          </a:xfrm>
          <a:prstGeom prst="roundRect">
            <a:avLst>
              <a:gd name="adj" fmla="val 16000"/>
            </a:avLst>
          </a:prstGeom>
          <a:solidFill>
            <a:srgbClr val="F0E5CD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48072" y="4133088"/>
            <a:ext cx="1783080" cy="31089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قاسم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74920" y="4498848"/>
            <a:ext cx="1929384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مؤسس فخذ القواسمة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114031" y="4462272"/>
            <a:ext cx="804673" cy="0"/>
          </a:xfrm>
          <a:prstGeom prst="line">
            <a:avLst/>
          </a:prstGeom>
          <a:ln w="2286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918704" y="4023360"/>
            <a:ext cx="2148840" cy="868680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01583" y="4133088"/>
            <a:ext cx="1783080" cy="31089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محمد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28431" y="4498848"/>
            <a:ext cx="1929384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جد فرع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4142232" y="4910328"/>
            <a:ext cx="1280160" cy="466344"/>
          </a:xfrm>
          <a:prstGeom prst="line">
            <a:avLst/>
          </a:prstGeom>
          <a:ln w="1143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593592" y="53492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85032" y="5422392"/>
            <a:ext cx="9144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133D32"/>
                </a:solidFill>
                <a:latin typeface="Noto Sans Arabic"/>
              </a:rPr>
              <a:t>فرع ١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422392" y="4910328"/>
            <a:ext cx="274320" cy="466344"/>
          </a:xfrm>
          <a:prstGeom prst="line">
            <a:avLst/>
          </a:prstGeom>
          <a:ln w="1143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5148072" y="53492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39512" y="5422392"/>
            <a:ext cx="9144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133D32"/>
                </a:solidFill>
                <a:latin typeface="Noto Sans Arabic"/>
              </a:rPr>
              <a:t>فرع ٢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5422392" y="4910328"/>
            <a:ext cx="1828800" cy="466344"/>
          </a:xfrm>
          <a:prstGeom prst="line">
            <a:avLst/>
          </a:prstGeom>
          <a:ln w="1143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6702552" y="53492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93992" y="5422392"/>
            <a:ext cx="9144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133D32"/>
                </a:solidFill>
                <a:latin typeface="Noto Sans Arabic"/>
              </a:rPr>
              <a:t>فرع ٣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422392" y="4910328"/>
            <a:ext cx="3383280" cy="466344"/>
          </a:xfrm>
          <a:prstGeom prst="line">
            <a:avLst/>
          </a:prstGeom>
          <a:ln w="11430">
            <a:solidFill>
              <a:srgbClr val="B28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8257031" y="53492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48471" y="5422392"/>
            <a:ext cx="9144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133D32"/>
                </a:solidFill>
                <a:latin typeface="Noto Sans Arabic"/>
              </a:rPr>
              <a:t>فرع ٤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نموذج تخطيطي لا يمثل سلسلة نسب موثقة؛ الشجرة الحية تعرض كل سجل منشور دون تكرار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مؤسسو الأفخاذ: عقدة غنية بالمعلومات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كل لون قابل للإدارة من جدول السمات، مع نص/أيقونة لا لون وحده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1719072"/>
            <a:ext cx="11045952" cy="4480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" y="2057400"/>
            <a:ext cx="2542032" cy="941832"/>
          </a:xfrm>
          <a:prstGeom prst="roundRect">
            <a:avLst>
              <a:gd name="adj" fmla="val 16000"/>
            </a:avLst>
          </a:prstGeom>
          <a:solidFill>
            <a:srgbClr val="DCEEDD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7" y="2231136"/>
            <a:ext cx="2240280" cy="3931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سيدنا آدم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679192"/>
            <a:ext cx="2286000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نبي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2057400"/>
            <a:ext cx="2542032" cy="941832"/>
          </a:xfrm>
          <a:prstGeom prst="roundRect">
            <a:avLst>
              <a:gd name="adj" fmla="val 16000"/>
            </a:avLst>
          </a:prstGeom>
          <a:solidFill>
            <a:srgbClr val="E3EBFB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2231136"/>
            <a:ext cx="2240280" cy="3931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صحابي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1" y="2679192"/>
            <a:ext cx="2286000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صفة موثقة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9672" y="2057400"/>
            <a:ext cx="2542032" cy="941832"/>
          </a:xfrm>
          <a:prstGeom prst="roundRect">
            <a:avLst>
              <a:gd name="adj" fmla="val 16000"/>
            </a:avLst>
          </a:prstGeom>
          <a:solidFill>
            <a:srgbClr val="F0E5CD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231136"/>
            <a:ext cx="2240280" cy="3931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مؤسس عشيرة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2679192"/>
            <a:ext cx="2286000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جد جامع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36024" y="2057400"/>
            <a:ext cx="2542032" cy="941832"/>
          </a:xfrm>
          <a:prstGeom prst="roundRect">
            <a:avLst>
              <a:gd name="adj" fmla="val 16000"/>
            </a:avLst>
          </a:prstGeom>
          <a:solidFill>
            <a:srgbClr val="DDE9DF"/>
          </a:solidFill>
          <a:ln w="9525">
            <a:solidFill>
              <a:srgbClr val="B28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73184" y="2231136"/>
            <a:ext cx="2240280" cy="3931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قاسم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2679192"/>
            <a:ext cx="2286000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مؤسس فخذ القواسمة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3520440"/>
            <a:ext cx="6263640" cy="1755648"/>
          </a:xfrm>
          <a:prstGeom prst="roundRect">
            <a:avLst>
              <a:gd name="adj" fmla="val 16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82696" y="3767328"/>
            <a:ext cx="5632704" cy="37490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FFFFFF"/>
                </a:solidFill>
                <a:latin typeface="Noto Sans Arabic"/>
              </a:rPr>
              <a:t>قاسم — الجد المؤسس لفخذ القواسمة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3552" y="4334256"/>
            <a:ext cx="5568696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E9EADB"/>
                </a:solidFill>
                <a:latin typeface="Noto Sans Arabic"/>
              </a:rPr>
              <a:t>الوصف المختصر، مصدر التوثيق، عدد السجلات المتصلة والفروع التابعة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33872" y="4828032"/>
            <a:ext cx="1975104" cy="320040"/>
          </a:xfrm>
          <a:prstGeom prst="roundRect">
            <a:avLst>
              <a:gd name="adj" fmla="val 40000"/>
            </a:avLst>
          </a:prstGeom>
          <a:solidFill>
            <a:srgbClr val="B28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9592" y="4839004"/>
            <a:ext cx="1883664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افتح صفحة الفخذ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الأفخاذ والقبائل والفروع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التصفح الهرمي مع بحث سريع وعدّادات مفسرة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1810512"/>
            <a:ext cx="1101852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1" y="1938528"/>
            <a:ext cx="3904487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66756B"/>
                </a:solidFill>
                <a:latin typeface="Noto Sans Arabic"/>
              </a:rPr>
              <a:t>ابحث باسم الفخذ أو المؤسس...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679192"/>
            <a:ext cx="3602736" cy="13258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94176" y="288036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2880360"/>
            <a:ext cx="284378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القواسمة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3319272"/>
            <a:ext cx="3310128" cy="6217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الفخذ والمؤسس · شجرة فرعية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2679192"/>
            <a:ext cx="3602736" cy="13258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70648" y="288036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2880360"/>
            <a:ext cx="284378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العوادات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3319272"/>
            <a:ext cx="3310128" cy="6217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صفحة فخذ · الشجرة والوثائق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7304" y="2679192"/>
            <a:ext cx="3602736" cy="13258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247119" y="288036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2880360"/>
            <a:ext cx="284378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الخليفات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3319272"/>
            <a:ext cx="3310128" cy="6217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صفحة فخذ · التاريخ والدواوين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187952"/>
            <a:ext cx="3602736" cy="13258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94176" y="43891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" y="4389120"/>
            <a:ext cx="284378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الرواحنة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" y="4828032"/>
            <a:ext cx="3310128" cy="6217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صفحة فخذ · أحدث الأخبار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0832" y="4187952"/>
            <a:ext cx="3602736" cy="13258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70648" y="43891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35424" y="4389120"/>
            <a:ext cx="284378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الحمايدة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7136" y="4828032"/>
            <a:ext cx="3310128" cy="6217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فرع تابع · الأنساب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47304" y="4187952"/>
            <a:ext cx="3602736" cy="13258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47119" y="43891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1896" y="4389120"/>
            <a:ext cx="284378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فروع أخرى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3608" y="4828032"/>
            <a:ext cx="3310128" cy="6217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تصفّح الكل · هرمية واحدة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صفحة الفخذ — القواسمة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نفس أقسام العشيرة مع نطاق عرض مفلتر إلى الفخذ وذريته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55648"/>
            <a:ext cx="11201400" cy="1325880"/>
          </a:xfrm>
          <a:prstGeom prst="roundRect">
            <a:avLst>
              <a:gd name="adj" fmla="val 16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1975104"/>
            <a:ext cx="137160" cy="137160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1992639"/>
            <a:ext cx="137160" cy="137160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7280" y="2005881"/>
            <a:ext cx="137160" cy="137160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80160" y="2011588"/>
            <a:ext cx="137160" cy="137160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63040" y="2008362"/>
            <a:ext cx="137160" cy="137160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45920" y="1996993"/>
            <a:ext cx="137160" cy="137160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28800" y="1980265"/>
            <a:ext cx="137160" cy="137160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11680" y="1962273"/>
            <a:ext cx="137160" cy="137160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1929384"/>
            <a:ext cx="5669280" cy="47548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400" b="1" lang="ar-JO">
                <a:solidFill>
                  <a:srgbClr val="FFFFFF"/>
                </a:solidFill>
                <a:latin typeface="Noto Sans Arabic"/>
              </a:rPr>
              <a:t>فخذ القواسمة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2560320"/>
            <a:ext cx="8138160" cy="31089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EBE9DD"/>
                </a:solidFill>
                <a:latin typeface="Noto Sans Arabic"/>
              </a:rPr>
              <a:t>شجرة الفخذ · تاريخ موثق · ديوان · أخبار · شخصيات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355848"/>
            <a:ext cx="266090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502152"/>
            <a:ext cx="238658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922776"/>
            <a:ext cx="2478024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أفراد منشورون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3355848"/>
            <a:ext cx="266090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3502152"/>
            <a:ext cx="238658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3922776"/>
            <a:ext cx="2478024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أجيال مسجلة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355848"/>
            <a:ext cx="266090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502152"/>
            <a:ext cx="238658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922776"/>
            <a:ext cx="2478024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دواوين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3355848"/>
            <a:ext cx="266090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3502152"/>
            <a:ext cx="238658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922776"/>
            <a:ext cx="2478024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مراجع وأرشيف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" y="4498848"/>
            <a:ext cx="6903720" cy="15727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4663440"/>
            <a:ext cx="252374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700" b="1" lang="ar-JO">
                <a:solidFill>
                  <a:srgbClr val="133D32"/>
                </a:solidFill>
                <a:latin typeface="Noto Sans Arabic"/>
              </a:rPr>
              <a:t>شجرة الفخذ والأجداد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" y="5157216"/>
            <a:ext cx="6181344" cy="4114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66756B"/>
                </a:solidFill>
                <a:latin typeface="Noto Sans Arabic"/>
              </a:rPr>
              <a:t>من قاسم وما قبله وصولًا إلى أبناء الفخذ، دون نسخ أي شخص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99248" y="4498848"/>
            <a:ext cx="3886200" cy="1572768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19288" y="4828032"/>
            <a:ext cx="3218688" cy="6858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هذا المستوى فقط / مع الفروع التابعة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تاريخ العشيرة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روايات متعددة موثقة ضمن سياق زمني ومكاني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09176" y="1773936"/>
            <a:ext cx="1984248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54896" y="1784908"/>
            <a:ext cx="1892807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نبذة تاريخية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1773936"/>
            <a:ext cx="19842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1" y="1784908"/>
            <a:ext cx="1892807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الأصول والنشأة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84648" y="1773936"/>
            <a:ext cx="19842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1784908"/>
            <a:ext cx="1892807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الهجرات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72383" y="1773936"/>
            <a:ext cx="19842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18103" y="1784908"/>
            <a:ext cx="1892807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المحطات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19" y="1773936"/>
            <a:ext cx="19842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39" y="1784908"/>
            <a:ext cx="1892807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المراجع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2350008"/>
            <a:ext cx="6391656" cy="3520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2606040"/>
            <a:ext cx="2267712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100" b="1" lang="ar-JO">
                <a:solidFill>
                  <a:srgbClr val="133D32"/>
                </a:solidFill>
                <a:latin typeface="Noto Sans Arabic"/>
              </a:rPr>
              <a:t>قصة العشيرة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273552"/>
            <a:ext cx="5486400" cy="12801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300" b="0" lang="ar-JO">
                <a:solidFill>
                  <a:srgbClr val="66756B"/>
                </a:solidFill>
                <a:latin typeface="Noto Sans Arabic"/>
              </a:rPr>
              <a:t>سرد تاريخي محرر مع توضيح المصادر، الفترات، والاختلافات بين الروايات دون حذف الحسابات المتنافسة.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2359152"/>
            <a:ext cx="3931920" cy="95097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14800" y="25603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2560320"/>
            <a:ext cx="3172968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البدايات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" y="2999232"/>
            <a:ext cx="3639312" cy="24688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نصوص ومصادر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" y="3529584"/>
            <a:ext cx="4023360" cy="6949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97096" y="3730752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3730752"/>
            <a:ext cx="3264408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الأصل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169663"/>
            <a:ext cx="3730752" cy="-91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المراجع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" y="4306824"/>
            <a:ext cx="4023360" cy="6949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197096" y="4507992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" y="4507992"/>
            <a:ext cx="3264408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الانتقال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946904"/>
            <a:ext cx="3730752" cy="-91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البلدان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6656" y="5084064"/>
            <a:ext cx="4023360" cy="6949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197096" y="5285231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7" y="5285231"/>
            <a:ext cx="3264408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المعاصر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724144"/>
            <a:ext cx="3730752" cy="-91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الصور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الأرشيف والوثائق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مكتبة وثائقية ذات حقوق ومراجع ومستوى ظهور واضح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810512"/>
            <a:ext cx="11064240" cy="52120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929384"/>
            <a:ext cx="10332720" cy="2743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بحث بالعنوان أو الفترة أو النوع  |  مخطوطات · مشجرات · وثائق · صور · روايات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2642616"/>
            <a:ext cx="3538728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2770632"/>
            <a:ext cx="1161288" cy="1033271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127248"/>
            <a:ext cx="1042415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مشجرة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4248" y="2889504"/>
            <a:ext cx="1938528" cy="4114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400" b="1" lang="ar-JO">
                <a:solidFill>
                  <a:srgbClr val="133D32"/>
                </a:solidFill>
                <a:latin typeface="Noto Sans Arabic"/>
              </a:rPr>
              <a:t>مشجرة تاريخية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93392" y="3429000"/>
            <a:ext cx="192024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المصدر والحالة · التفاصيل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2642616"/>
            <a:ext cx="3538728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80559" y="2770632"/>
            <a:ext cx="1161288" cy="1033271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3127248"/>
            <a:ext cx="1042415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وثيقة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3288" y="2889504"/>
            <a:ext cx="1938528" cy="4114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400" b="1" lang="ar-JO">
                <a:solidFill>
                  <a:srgbClr val="133D32"/>
                </a:solidFill>
                <a:latin typeface="Noto Sans Arabic"/>
              </a:rPr>
              <a:t>سجل عائلي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1" y="3429000"/>
            <a:ext cx="192024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المصدر والحالة · التفاصيل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0727" y="2642616"/>
            <a:ext cx="3538728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0" y="2770632"/>
            <a:ext cx="1161288" cy="1033271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3" y="3127248"/>
            <a:ext cx="1042415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صورة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82328" y="2889504"/>
            <a:ext cx="1938528" cy="4114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400" b="1" lang="ar-JO">
                <a:solidFill>
                  <a:srgbClr val="133D32"/>
                </a:solidFill>
                <a:latin typeface="Noto Sans Arabic"/>
              </a:rPr>
              <a:t>صورة قديمة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1472" y="3429000"/>
            <a:ext cx="192024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المصدر والحالة · التفاصيل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4261104"/>
            <a:ext cx="3538728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" y="4389120"/>
            <a:ext cx="1161288" cy="1033271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745736"/>
            <a:ext cx="1042415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صوت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84248" y="4507992"/>
            <a:ext cx="1938528" cy="4114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400" b="1" lang="ar-JO">
                <a:solidFill>
                  <a:srgbClr val="133D32"/>
                </a:solidFill>
                <a:latin typeface="Noto Sans Arabic"/>
              </a:rPr>
              <a:t>رواية مسموعة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93392" y="5047488"/>
            <a:ext cx="192024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المصدر والحالة · التفاصيل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61688" y="4261104"/>
            <a:ext cx="3538728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80559" y="4389120"/>
            <a:ext cx="1161288" cy="1033271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35424" y="4745736"/>
            <a:ext cx="1042415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مقال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33288" y="4507992"/>
            <a:ext cx="1938528" cy="4114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400" b="1" lang="ar-JO">
                <a:solidFill>
                  <a:srgbClr val="133D32"/>
                </a:solidFill>
                <a:latin typeface="Noto Sans Arabic"/>
              </a:rPr>
              <a:t>مقال تاريخي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42431" y="5047488"/>
            <a:ext cx="192024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المصدر والحالة · التفاصيل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10727" y="4261104"/>
            <a:ext cx="3538728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0" y="4389120"/>
            <a:ext cx="1161288" cy="1033271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4463" y="4745736"/>
            <a:ext cx="1042415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مخطوط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82328" y="4507992"/>
            <a:ext cx="1938528" cy="4114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400" b="1" lang="ar-JO">
                <a:solidFill>
                  <a:srgbClr val="133D32"/>
                </a:solidFill>
                <a:latin typeface="Noto Sans Arabic"/>
              </a:rPr>
              <a:t>مخطوط قديم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91472" y="5047488"/>
            <a:ext cx="192024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المصدر والحالة · التفاصيل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الدواوين والمضافات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دواوين العشيرة والفروع، ببطاقة واحدة لكل مضافة مشتركة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1828800"/>
            <a:ext cx="3602736" cy="3566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2002536"/>
            <a:ext cx="3310128" cy="1417320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542032"/>
            <a:ext cx="3017520" cy="33832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صورة المضافة بعد الاعتماد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639312"/>
            <a:ext cx="3191256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700" b="1" lang="ar-JO">
                <a:solidFill>
                  <a:srgbClr val="133D32"/>
                </a:solidFill>
                <a:latin typeface="Noto Sans Arabic"/>
              </a:rPr>
              <a:t>ديوان عشيرة الزعبي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187952"/>
            <a:ext cx="3182112" cy="30175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العشيرة الأم  ·  السلط — الموقع العام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" y="4754880"/>
            <a:ext cx="2926080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4765852"/>
            <a:ext cx="283464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الاتجاهات على خرائط Google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1828800"/>
            <a:ext cx="3602736" cy="3566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26280" y="2002536"/>
            <a:ext cx="3310128" cy="1417320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4" y="2542032"/>
            <a:ext cx="3017520" cy="33832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صورة المضافة بعد الاعتماد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3639312"/>
            <a:ext cx="3191256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700" b="1" lang="ar-JO">
                <a:solidFill>
                  <a:srgbClr val="133D32"/>
                </a:solidFill>
                <a:latin typeface="Noto Sans Arabic"/>
              </a:rPr>
              <a:t>مضافة القواسمة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4187952"/>
            <a:ext cx="3182112" cy="30175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فخذ القواسمة  ·  المنطقة بحسب البيانات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90872" y="4754880"/>
            <a:ext cx="2926080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4765852"/>
            <a:ext cx="283464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الاتجاهات على خرائط Google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74736" y="1828800"/>
            <a:ext cx="3602736" cy="3566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21040" y="2002536"/>
            <a:ext cx="3310128" cy="1417320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67344" y="2542032"/>
            <a:ext cx="3017520" cy="33832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صورة المضافة بعد الاعتماد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3639312"/>
            <a:ext cx="3191256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700" b="1" lang="ar-JO">
                <a:solidFill>
                  <a:srgbClr val="133D32"/>
                </a:solidFill>
                <a:latin typeface="Noto Sans Arabic"/>
              </a:rPr>
              <a:t>مضافة مشتركة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4187952"/>
            <a:ext cx="3182112" cy="30175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عدة أفخاذ  ·  تفاصيل الموقع العام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85632" y="4754880"/>
            <a:ext cx="2926080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31352" y="4765852"/>
            <a:ext cx="283464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الاتجاهات على خرائط Google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تفاصيل الديوان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صور وموقع واتجاهات مع احترام الموافقات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1737360"/>
            <a:ext cx="6601968" cy="4297680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2" y="3566160"/>
            <a:ext cx="2834640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2200" b="1" lang="ar-JO">
                <a:solidFill>
                  <a:srgbClr val="133D32"/>
                </a:solidFill>
                <a:latin typeface="Noto Sans Arabic"/>
              </a:rPr>
              <a:t>معرض صور الديوان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3" y="1737360"/>
            <a:ext cx="4178808" cy="4297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112264"/>
            <a:ext cx="3255264" cy="56692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100" b="1" lang="ar-JO">
                <a:solidFill>
                  <a:srgbClr val="133D32"/>
                </a:solidFill>
                <a:latin typeface="Noto Sans Arabic"/>
              </a:rPr>
              <a:t>مضافة القواسمة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2807208"/>
            <a:ext cx="3401568" cy="16093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300" b="0" lang="ar-JO">
                <a:solidFill>
                  <a:srgbClr val="66756B"/>
                </a:solidFill>
                <a:latin typeface="Noto Sans Arabic"/>
              </a:rPr>
              <a:t>التبعية: فخذ القواسمة
المنطقة: وفق البيانات المعتمدة
الموقع: عام / مصرح بنشره
الوصف وتفاصيل الزيارة وطرق التواصل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4919472"/>
            <a:ext cx="2926080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4930444"/>
            <a:ext cx="283464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فتح الاتجاهات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أبناء العشيرة للخبرات والمساعدة والتواصل المهني — مشاركة طوعية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1792224"/>
            <a:ext cx="10972800" cy="52120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1883664"/>
            <a:ext cx="8046720" cy="2743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الجهة / الجامعة / المجال / الوظيفة / المدينة / الفخذ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569464"/>
            <a:ext cx="3557016" cy="1453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55848" y="2807208"/>
            <a:ext cx="484632" cy="484632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2798064"/>
            <a:ext cx="2331720" cy="32004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500" b="1" lang="ar-JO">
                <a:solidFill>
                  <a:srgbClr val="133D32"/>
                </a:solidFill>
                <a:latin typeface="Noto Sans Arabic"/>
              </a:rPr>
              <a:t>عضو مشارك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191256"/>
            <a:ext cx="2386584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مهندس برمجيات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" y="3602736"/>
            <a:ext cx="260604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613708"/>
            <a:ext cx="25146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مساعدة في التقنية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2569464"/>
            <a:ext cx="3557016" cy="1453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41464" y="2807208"/>
            <a:ext cx="484632" cy="484632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2798064"/>
            <a:ext cx="2331720" cy="32004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500" b="1" lang="ar-JO">
                <a:solidFill>
                  <a:srgbClr val="133D32"/>
                </a:solidFill>
                <a:latin typeface="Noto Sans Arabic"/>
              </a:rPr>
              <a:t>عضو مشارك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191256"/>
            <a:ext cx="2386584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طبيب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36008" y="3602736"/>
            <a:ext cx="260604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3613708"/>
            <a:ext cx="25146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استفسارات صحية عامة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74736" y="2569464"/>
            <a:ext cx="3557016" cy="1453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27080" y="2807208"/>
            <a:ext cx="484632" cy="484632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6" y="2798064"/>
            <a:ext cx="2331720" cy="32004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500" b="1" lang="ar-JO">
                <a:solidFill>
                  <a:srgbClr val="133D32"/>
                </a:solidFill>
                <a:latin typeface="Noto Sans Arabic"/>
              </a:rPr>
              <a:t>عضو مشارك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191256"/>
            <a:ext cx="2386584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صاحب عمل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21624" y="3602736"/>
            <a:ext cx="260604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67344" y="3613708"/>
            <a:ext cx="25146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قطاع تجاري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4233672"/>
            <a:ext cx="3557016" cy="1453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355848" y="4471416"/>
            <a:ext cx="484632" cy="484632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" y="4462272"/>
            <a:ext cx="2331720" cy="32004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500" b="1" lang="ar-JO">
                <a:solidFill>
                  <a:srgbClr val="133D32"/>
                </a:solidFill>
                <a:latin typeface="Noto Sans Arabic"/>
              </a:rPr>
              <a:t>عضو مشارك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4855464"/>
            <a:ext cx="2386584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موظف حكومي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" y="5266944"/>
            <a:ext cx="260604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277916"/>
            <a:ext cx="25146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إرشاد للمراجعين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4233672"/>
            <a:ext cx="3557016" cy="1453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141464" y="4471416"/>
            <a:ext cx="484632" cy="484632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4462272"/>
            <a:ext cx="2331720" cy="32004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500" b="1" lang="ar-JO">
                <a:solidFill>
                  <a:srgbClr val="133D32"/>
                </a:solidFill>
                <a:latin typeface="Noto Sans Arabic"/>
              </a:rPr>
              <a:t>عضو مشارك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26864" y="4855464"/>
            <a:ext cx="2386584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طالب جامعي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36008" y="5266944"/>
            <a:ext cx="260604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1728" y="5277916"/>
            <a:ext cx="25146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تعاون طلابي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74736" y="4233672"/>
            <a:ext cx="3557016" cy="1453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27080" y="4471416"/>
            <a:ext cx="484632" cy="484632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3336" y="4462272"/>
            <a:ext cx="2331720" cy="32004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500" b="1" lang="ar-JO">
                <a:solidFill>
                  <a:srgbClr val="133D32"/>
                </a:solidFill>
                <a:latin typeface="Noto Sans Arabic"/>
              </a:rPr>
              <a:t>عضو مشارك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855464"/>
            <a:ext cx="2386584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محام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21624" y="5266944"/>
            <a:ext cx="260604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7344" y="5277916"/>
            <a:ext cx="25146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استشارات أولية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نماذج أعضاء تخيلية؛ لا تعرض بيانات أو أرقام هواتف دون موافقة صريحة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ملف العضو في دليل السند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الاسم والعمل والجهة والتخصص ووسيلة التواصل باختيار العضو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1764792"/>
            <a:ext cx="8567928" cy="43982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42832" y="2084831"/>
            <a:ext cx="850392" cy="850392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2157984"/>
            <a:ext cx="3840480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100" b="1" lang="ar-JO">
                <a:solidFill>
                  <a:srgbClr val="133D32"/>
                </a:solidFill>
                <a:latin typeface="Noto Sans Arabic"/>
              </a:rPr>
              <a:t>ملف مهني اختياري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2871216"/>
            <a:ext cx="630936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66756B"/>
                </a:solidFill>
                <a:latin typeface="Noto Sans Arabic"/>
              </a:rPr>
              <a:t>المهنة  ·  جهة العمل  ·  القطاع  ·  المحافظة  ·  الفخذ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3584448"/>
            <a:ext cx="276148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79" y="3595420"/>
            <a:ext cx="267004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مهارات وخبرات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9864" y="3584448"/>
            <a:ext cx="276148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15584" y="3595420"/>
            <a:ext cx="267004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خدمات يمكنني تقديمها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4096512"/>
            <a:ext cx="276148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79" y="4107484"/>
            <a:ext cx="267004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عمل خاص / مشروع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9864" y="4096512"/>
            <a:ext cx="276148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15584" y="4107484"/>
            <a:ext cx="267004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الجهات أو الجامعات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608576"/>
            <a:ext cx="276148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79" y="4619548"/>
            <a:ext cx="267004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روابط مهنية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33672" y="5367528"/>
            <a:ext cx="3904487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9392" y="5378500"/>
            <a:ext cx="381304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طلب تواصل مع احترام الخصوصية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شبابنا وفرص العمل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واجهة مقترحة فقط · لا يوجد رفع أو حفظ فعلي للملفات في هذه المرحلة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1828800"/>
            <a:ext cx="4992624" cy="42336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44768" y="1828800"/>
            <a:ext cx="5111496" cy="42336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52728" y="2103120"/>
            <a:ext cx="2468880" cy="320040"/>
          </a:xfrm>
          <a:prstGeom prst="roundRect">
            <a:avLst>
              <a:gd name="adj" fmla="val 40000"/>
            </a:avLst>
          </a:prstGeom>
          <a:solidFill>
            <a:srgbClr val="F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2114092"/>
            <a:ext cx="237744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B84F47"/>
                </a:solidFill>
                <a:latin typeface="Noto Sans Arabic"/>
              </a:rPr>
              <a:t>واجهة فقط — غير مفعّلة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2633472"/>
            <a:ext cx="4187952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100" b="1" lang="ar-JO">
                <a:solidFill>
                  <a:srgbClr val="133D32"/>
                </a:solidFill>
                <a:latin typeface="Noto Sans Arabic"/>
              </a:rPr>
              <a:t>أودع سيرتك الذاتية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246120"/>
            <a:ext cx="4069080" cy="126187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66756B"/>
                </a:solidFill>
                <a:latin typeface="Noto Sans Arabic"/>
              </a:rPr>
              <a:t>الشاب يحدد التخصص، الخبرات، المدينة، الفخذ ونوع الفرصة المطلوبة. لاحقًا: رفع CV بموافقة واضحة وتحكم في الحذف والاطلاع.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80744" y="4873752"/>
            <a:ext cx="3886200" cy="667512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029200"/>
            <a:ext cx="3547872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رفع السيرة الذاتية · قريبًا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103120"/>
            <a:ext cx="2468880" cy="320040"/>
          </a:xfrm>
          <a:prstGeom prst="roundRect">
            <a:avLst>
              <a:gd name="adj" fmla="val 40000"/>
            </a:avLst>
          </a:prstGeom>
          <a:solidFill>
            <a:srgbClr val="F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2114092"/>
            <a:ext cx="237744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B84F47"/>
                </a:solidFill>
                <a:latin typeface="Noto Sans Arabic"/>
              </a:rPr>
              <a:t>واجهة فقط — غير مفعّلة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2633472"/>
            <a:ext cx="425196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100" b="1" lang="ar-JO">
                <a:solidFill>
                  <a:srgbClr val="133D32"/>
                </a:solidFill>
                <a:latin typeface="Noto Sans Arabic"/>
              </a:rPr>
              <a:t>أبحث عن موظف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246120"/>
            <a:ext cx="3986784" cy="126187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66756B"/>
                </a:solidFill>
                <a:latin typeface="Noto Sans Arabic"/>
              </a:rPr>
              <a:t>صاحب فرصة العمل يذكر المجال والشروط والموقع ونوع الدوام، ثم يراجع فريق العشيرة السير ذات الصلة لاحقًا وفق موافقة أصحابها.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4873752"/>
            <a:ext cx="3840480" cy="667512"/>
          </a:xfrm>
          <a:prstGeom prst="roundRect">
            <a:avLst>
              <a:gd name="adj" fmla="val 16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029200"/>
            <a:ext cx="3493008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إرسال فرصة عمل · قريبًا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أخبار العشيرة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عاجل · وفيات وتعازي · أخبار عامة · أفراح ونجاحات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1819656"/>
            <a:ext cx="11009376" cy="594360"/>
          </a:xfrm>
          <a:prstGeom prst="roundRect">
            <a:avLst>
              <a:gd name="adj" fmla="val 16000"/>
            </a:avLst>
          </a:prstGeom>
          <a:solidFill>
            <a:srgbClr val="F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947672"/>
            <a:ext cx="10314432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B84F47"/>
                </a:solidFill>
                <a:latin typeface="Noto Sans Arabic"/>
              </a:rPr>
              <a:t>تنويه عاجل — شريط قابل للتحرير بعد الاعتماد، وليس جلبًا مباشرًا من Facebook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5208" y="2587752"/>
            <a:ext cx="1728216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2598724"/>
            <a:ext cx="163677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الكل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54696" y="2587752"/>
            <a:ext cx="1728216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0416" y="2598724"/>
            <a:ext cx="163677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عاجل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44184" y="2587752"/>
            <a:ext cx="1728216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2598724"/>
            <a:ext cx="163677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الوفيات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33672" y="2587752"/>
            <a:ext cx="1728216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2598724"/>
            <a:ext cx="163677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أخبار عامة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2587752"/>
            <a:ext cx="1728216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2598724"/>
            <a:ext cx="163677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أفراح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2587752"/>
            <a:ext cx="1728216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598724"/>
            <a:ext cx="163677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تخرج وإنجازات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" y="3191256"/>
            <a:ext cx="3538728" cy="22768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9808" y="3346704"/>
            <a:ext cx="3264408" cy="777240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" y="4315968"/>
            <a:ext cx="3072384" cy="38404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إعلان لأبناء العشيرة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4782312"/>
            <a:ext cx="3127248" cy="3931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خبر رسمي خاضع للمراجعة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3191256"/>
            <a:ext cx="3538728" cy="22768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35424" y="3346704"/>
            <a:ext cx="3264408" cy="777240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9432" y="4315968"/>
            <a:ext cx="3072384" cy="38404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نعي وتعزية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1144" y="4782312"/>
            <a:ext cx="3127248" cy="3931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تفاصيل مواعيد العزاء والدفن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74736" y="3191256"/>
            <a:ext cx="3538728" cy="22768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21040" y="3346704"/>
            <a:ext cx="3264408" cy="777240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5048" y="4315968"/>
            <a:ext cx="3072384" cy="38404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فرحة نجاح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782312"/>
            <a:ext cx="3127248" cy="39319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تخرج وفرص وأخبار سارة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07992" y="5769864"/>
            <a:ext cx="2999232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53712" y="5780836"/>
            <a:ext cx="2907791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اقترح خبرًا للمراجعة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الوفيات والتعازي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إعلان حساس؛ لا يُنشر قبل الموافقة والتحقق من المعلومات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1810512"/>
            <a:ext cx="8092440" cy="44074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59752" y="2130552"/>
            <a:ext cx="2414016" cy="320040"/>
          </a:xfrm>
          <a:prstGeom prst="roundRect">
            <a:avLst>
              <a:gd name="adj" fmla="val 40000"/>
            </a:avLst>
          </a:prstGeom>
          <a:solidFill>
            <a:srgbClr val="F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2141524"/>
            <a:ext cx="2322576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B84F47"/>
                </a:solidFill>
                <a:latin typeface="Noto Sans Arabic"/>
              </a:rPr>
              <a:t>نعي · بعد الاعتماد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551176"/>
            <a:ext cx="4919472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2200" b="1" lang="ar-JO">
                <a:solidFill>
                  <a:srgbClr val="133D32"/>
                </a:solidFill>
                <a:latin typeface="Noto Sans Arabic"/>
              </a:rPr>
              <a:t>إنا لله وإنا إليه راجعون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227832"/>
            <a:ext cx="5650992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اسم المتوفّى المرتبط بالشجرة إن وجد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886200"/>
            <a:ext cx="2980944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897172"/>
            <a:ext cx="2889503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تاريخ الوفاة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4136" y="3886200"/>
            <a:ext cx="2980944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9856" y="3897172"/>
            <a:ext cx="2889503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مكان صلاة الجنازة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4370832"/>
            <a:ext cx="2980944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381804"/>
            <a:ext cx="2889503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موقع الدفن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4136" y="4370832"/>
            <a:ext cx="2980944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19856" y="4381804"/>
            <a:ext cx="2889503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مكان استقبال العزاء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4855464"/>
            <a:ext cx="2980944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866436"/>
            <a:ext cx="2889503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مواعيد العزاء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74136" y="4855464"/>
            <a:ext cx="2980944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19856" y="4866436"/>
            <a:ext cx="2889503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آخر تحديث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5586984"/>
            <a:ext cx="2715768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5597956"/>
            <a:ext cx="262432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رابط الموقع العام المصرح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الأفراح والمناسبات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تهنئة · تخرج · زواج · لقاء · مبادرة + تقويم للأحداث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1901952"/>
            <a:ext cx="2697480" cy="2194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88920" y="21031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2103120"/>
            <a:ext cx="1938528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تخرج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2542032"/>
            <a:ext cx="2404872" cy="149047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عبارة تهنئة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1901952"/>
            <a:ext cx="2697480" cy="2194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23560" y="21031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2103120"/>
            <a:ext cx="1938528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زفاف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2542032"/>
            <a:ext cx="2404872" cy="149047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دعوة منشورة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901952"/>
            <a:ext cx="2697480" cy="2194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58200" y="21031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2103120"/>
            <a:ext cx="1938528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لقاء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2542032"/>
            <a:ext cx="2404872" cy="149047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مكان وموعد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1901952"/>
            <a:ext cx="2697480" cy="2194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92840" y="21031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2" y="2103120"/>
            <a:ext cx="1938528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إنجاز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2542032"/>
            <a:ext cx="2404872" cy="149047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خبر معتمد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389120"/>
            <a:ext cx="11018520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97112" y="4599432"/>
            <a:ext cx="2267712" cy="42976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التقويم المجتمعي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065776"/>
            <a:ext cx="8174736" cy="32004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66756B"/>
                </a:solidFill>
                <a:latin typeface="Noto Sans Arabic"/>
              </a:rPr>
              <a:t>القادم  •  المؤجل  •  المنتهي  |  التوقيت والمنطقة والفخذ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شخصيات وإنجازات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عرض أبجدي غير تنافسي مع مصدر ودرجة توثيق وتنويه عدم الحصر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1892807"/>
            <a:ext cx="2670048" cy="2907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18488" y="2221992"/>
            <a:ext cx="630936" cy="630936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063240"/>
            <a:ext cx="2240280" cy="42976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شخصية عامة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538728"/>
            <a:ext cx="2231136" cy="31089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خدمة المجتمع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" y="4151376"/>
            <a:ext cx="193852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162348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السيرة والإنجازات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1892807"/>
            <a:ext cx="2670048" cy="2907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53128" y="2221992"/>
            <a:ext cx="630936" cy="630936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063240"/>
            <a:ext cx="2240280" cy="42976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أكاديمي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538728"/>
            <a:ext cx="2231136" cy="31089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بحث وتعليم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67328" y="4151376"/>
            <a:ext cx="193852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3048" y="4162348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السيرة والإنجازات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892807"/>
            <a:ext cx="2670048" cy="2907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87768" y="2221992"/>
            <a:ext cx="630936" cy="630936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3096" y="3063240"/>
            <a:ext cx="2240280" cy="42976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مهني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538728"/>
            <a:ext cx="2231136" cy="31089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خبرة تخصصية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01968" y="4151376"/>
            <a:ext cx="193852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4162348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السيرة والإنجازات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1892807"/>
            <a:ext cx="2670048" cy="2907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22408" y="2221992"/>
            <a:ext cx="630936" cy="630936"/>
          </a:xfrm>
          <a:prstGeom prst="ellipse">
            <a:avLst/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17736" y="3063240"/>
            <a:ext cx="2240280" cy="42976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600" b="1" lang="ar-JO">
                <a:solidFill>
                  <a:srgbClr val="133D32"/>
                </a:solidFill>
                <a:latin typeface="Noto Sans Arabic"/>
              </a:rPr>
              <a:t>رياضي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538728"/>
            <a:ext cx="2231136" cy="31089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إنجاز معتمد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36608" y="4151376"/>
            <a:ext cx="193852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82328" y="4162348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السيرة والإنجازات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5285232"/>
            <a:ext cx="10332720" cy="694944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" y="5477256"/>
            <a:ext cx="10058400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100" b="1" lang="ar-JO">
                <a:solidFill>
                  <a:srgbClr val="133D32"/>
                </a:solidFill>
                <a:latin typeface="Noto Sans Arabic"/>
              </a:rPr>
              <a:t>القائمة مبنية على البيانات المتاحة وليست حصرًا أو ترتيبًا للمكانة الاجتماعية.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المبادرات المجتمعية — الرد السريع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تصور واجهات أولي فقط، دون تشغيل نظام البلاغات أو نشر بيانات حساسة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1874519"/>
            <a:ext cx="10972800" cy="1216152"/>
          </a:xfrm>
          <a:prstGeom prst="roundRect">
            <a:avLst>
              <a:gd name="adj" fmla="val 16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057400"/>
            <a:ext cx="5934456" cy="521207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FFFFFF"/>
                </a:solidFill>
                <a:latin typeface="Noto Sans Arabic"/>
              </a:rPr>
              <a:t>فزعة شباب العشيرة  |  الرد السريع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3502152"/>
            <a:ext cx="2706624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88920" y="37033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703320"/>
            <a:ext cx="1947672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من نحن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42232"/>
            <a:ext cx="2414016" cy="1170431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نبذة عن المبادرة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9856" y="3502152"/>
            <a:ext cx="2706624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23560" y="37033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3703320"/>
            <a:ext cx="1947672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بيانات رسمية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142232"/>
            <a:ext cx="2414016" cy="1170431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منشورات معتمدة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502152"/>
            <a:ext cx="2706624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58200" y="37033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703320"/>
            <a:ext cx="1947672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الفعاليات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142232"/>
            <a:ext cx="2414016" cy="1170431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الأنشطة المجتمعية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89136" y="3502152"/>
            <a:ext cx="2706624" cy="187451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292840" y="370332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3703320"/>
            <a:ext cx="1947672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تواصل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142232"/>
            <a:ext cx="2414016" cy="1170431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قنوات عامة معتمدة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17720" y="5678424"/>
            <a:ext cx="2834640" cy="320040"/>
          </a:xfrm>
          <a:prstGeom prst="roundRect">
            <a:avLst>
              <a:gd name="adj" fmla="val 40000"/>
            </a:avLst>
          </a:prstGeom>
          <a:solidFill>
            <a:srgbClr val="F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689396"/>
            <a:ext cx="27432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B84F47"/>
                </a:solidFill>
                <a:latin typeface="Noto Sans Arabic"/>
              </a:rPr>
              <a:t>نموذج تجربة فقط — قريبًا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لوحة إدارة عائلة الزعبي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Workspace مستقل للعائلة مع متابعة كل الأقسام، لا مجرد الاسم والحالة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691640"/>
            <a:ext cx="1783080" cy="4498848"/>
          </a:xfrm>
          <a:prstGeom prst="roundRect">
            <a:avLst>
              <a:gd name="adj" fmla="val 16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57816" y="1947672"/>
            <a:ext cx="1408176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نظرة عامة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7816" y="2377439"/>
            <a:ext cx="1408176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D9E8DC"/>
                </a:solidFill>
                <a:latin typeface="Noto Sans Arabic"/>
              </a:rPr>
              <a:t>الشجرة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7816" y="2807208"/>
            <a:ext cx="1408176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D9E8DC"/>
                </a:solidFill>
                <a:latin typeface="Noto Sans Arabic"/>
              </a:rPr>
              <a:t>الأفخاذ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7816" y="3236976"/>
            <a:ext cx="1408176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D9E8DC"/>
                </a:solidFill>
                <a:latin typeface="Noto Sans Arabic"/>
              </a:rPr>
              <a:t>البوابة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6" y="3666744"/>
            <a:ext cx="1408176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D9E8DC"/>
                </a:solidFill>
                <a:latin typeface="Noto Sans Arabic"/>
              </a:rPr>
              <a:t>الأخبار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6" y="4096511"/>
            <a:ext cx="1408176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D9E8DC"/>
                </a:solidFill>
                <a:latin typeface="Noto Sans Arabic"/>
              </a:rPr>
              <a:t>الدليل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7816" y="4526279"/>
            <a:ext cx="1408176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D9E8DC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7816" y="4956048"/>
            <a:ext cx="1408176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D9E8DC"/>
                </a:solidFill>
                <a:latin typeface="Noto Sans Arabic"/>
              </a:rPr>
              <a:t>الأرشيف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6" y="5385816"/>
            <a:ext cx="1408176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D9E8DC"/>
                </a:solidFill>
                <a:latin typeface="Noto Sans Arabic"/>
              </a:rPr>
              <a:t>الطلبات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1792224"/>
            <a:ext cx="211226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1938528"/>
            <a:ext cx="183794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2359152"/>
            <a:ext cx="1929384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أفراد منشورون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1792224"/>
            <a:ext cx="211226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1938528"/>
            <a:ext cx="183794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2359152"/>
            <a:ext cx="1929384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أفخاذ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48072" y="1792224"/>
            <a:ext cx="211226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85232" y="1938528"/>
            <a:ext cx="183794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9512" y="2359152"/>
            <a:ext cx="1929384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طلبات مراجعة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15783" y="1792224"/>
            <a:ext cx="2112264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1938528"/>
            <a:ext cx="183794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7223" y="2359152"/>
            <a:ext cx="1929384" cy="2103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أخبار منشورة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2944368"/>
            <a:ext cx="5148072" cy="2697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45536" y="3182112"/>
            <a:ext cx="2258568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صحة بيانات العائلة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552" y="3685032"/>
            <a:ext cx="301752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2" y="3696004"/>
            <a:ext cx="292607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سجلات تحتاج مراجعة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" y="4215384"/>
            <a:ext cx="301752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2" y="4226356"/>
            <a:ext cx="292607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أسماء بلا مصدر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7552" y="4745736"/>
            <a:ext cx="301752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2" y="4756708"/>
            <a:ext cx="292607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أخبار قيد الاعتماد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0" y="2944368"/>
            <a:ext cx="3520440" cy="2697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55664" y="3218688"/>
            <a:ext cx="2743200" cy="4572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إدارة بوابة العائلة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73368" y="3877056"/>
            <a:ext cx="2770632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9088" y="3888028"/>
            <a:ext cx="2679191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الغلاف والهوية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73368" y="4379976"/>
            <a:ext cx="2770632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8" y="4390948"/>
            <a:ext cx="2679191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ترتيب الأقسام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73368" y="4882896"/>
            <a:ext cx="2770632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9088" y="4893868"/>
            <a:ext cx="2679191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المسؤولون والنشر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محرر بوابة العائلة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إعداد الصورة والهوية وترتيب الأقسام والعناوين من لوحة العائلة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1828800"/>
            <a:ext cx="5486400" cy="43251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1828800"/>
            <a:ext cx="5330952" cy="43251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048256"/>
            <a:ext cx="2377440" cy="44805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معاينة مباشرة للبوابة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" y="2587752"/>
            <a:ext cx="4791456" cy="1289304"/>
          </a:xfrm>
          <a:prstGeom prst="roundRect">
            <a:avLst>
              <a:gd name="adj" fmla="val 16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3044952"/>
            <a:ext cx="3236976" cy="40233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2100" b="1" lang="ar-JO">
                <a:solidFill>
                  <a:srgbClr val="FFFFFF"/>
                </a:solidFill>
                <a:latin typeface="Noto Sans Arabic"/>
              </a:rPr>
              <a:t>عشيرة الزعبي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" y="4361688"/>
            <a:ext cx="2231136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4372660"/>
            <a:ext cx="2139696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شجرة الجامعة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1" y="4361688"/>
            <a:ext cx="2231136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1" y="4372660"/>
            <a:ext cx="2139696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الأفخاذ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" y="4846320"/>
            <a:ext cx="2231136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857292"/>
            <a:ext cx="2139696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التاريخ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4991" y="4846320"/>
            <a:ext cx="2231136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10711" y="4857292"/>
            <a:ext cx="2139696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048256"/>
            <a:ext cx="2258568" cy="44805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900" b="1" lang="ar-JO">
                <a:solidFill>
                  <a:srgbClr val="133D32"/>
                </a:solidFill>
                <a:latin typeface="Noto Sans Arabic"/>
              </a:rPr>
              <a:t>إعدادات العرض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38544" y="2743200"/>
            <a:ext cx="44988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84264" y="2754172"/>
            <a:ext cx="440740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اسم العائلة والنبذة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38544" y="3218688"/>
            <a:ext cx="44988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84264" y="3229660"/>
            <a:ext cx="440740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شعار وغلاف البوابة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38544" y="3694176"/>
            <a:ext cx="44988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84264" y="3705148"/>
            <a:ext cx="440740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الدومين الفرعي والتحقق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38544" y="4169664"/>
            <a:ext cx="44988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4264" y="4180636"/>
            <a:ext cx="440740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إظهار الأقسام وترتيبها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38544" y="4645152"/>
            <a:ext cx="44988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84264" y="4656124"/>
            <a:ext cx="440740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الألوان ضمن النظام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38544" y="5120640"/>
            <a:ext cx="449884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84264" y="5131612"/>
            <a:ext cx="440740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روابط التواصل العامة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مركز المحتوى والمراجعات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الموافقة على الأخبار والنعي والأرشيف والدواوين والشخصيات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1773936"/>
            <a:ext cx="10991088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1901952"/>
            <a:ext cx="1938528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1912924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بانتظار الاعتماد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45536" y="1901952"/>
            <a:ext cx="193852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91256" y="1912924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المسودات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85231" y="1901952"/>
            <a:ext cx="193852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0951" y="1912924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منشور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24927" y="1901952"/>
            <a:ext cx="193852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1912924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مرفوض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64624" y="1901952"/>
            <a:ext cx="1938528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0344" y="1912924"/>
            <a:ext cx="1847088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مؤرشف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2651760"/>
            <a:ext cx="10671048" cy="6492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34272" y="2798064"/>
            <a:ext cx="1883664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خبر عاجل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2798064"/>
            <a:ext cx="2633472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فخذ القواسمة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95728" y="2816352"/>
            <a:ext cx="1783080" cy="320040"/>
          </a:xfrm>
          <a:prstGeom prst="roundRect">
            <a:avLst>
              <a:gd name="adj" fmla="val 40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1448" y="2827324"/>
            <a:ext cx="169163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مراجعة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" y="2816352"/>
            <a:ext cx="1417320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2827324"/>
            <a:ext cx="132588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مراجعة التفاصيل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" y="3401568"/>
            <a:ext cx="10671048" cy="6492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3547872"/>
            <a:ext cx="1883664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نعي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88152" y="3547872"/>
            <a:ext cx="2633472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عشيرة الزعبي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566160"/>
            <a:ext cx="1783080" cy="320040"/>
          </a:xfrm>
          <a:prstGeom prst="roundRect">
            <a:avLst>
              <a:gd name="adj" fmla="val 40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3577132"/>
            <a:ext cx="169163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تحقق حساس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" y="3566160"/>
            <a:ext cx="1417320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" y="3577132"/>
            <a:ext cx="132588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مراجعة التفاصيل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151376"/>
            <a:ext cx="10671048" cy="6492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4272" y="4297680"/>
            <a:ext cx="1883664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وثيقة تاريخية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88152" y="4297680"/>
            <a:ext cx="2633472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فرع تابع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95728" y="4315968"/>
            <a:ext cx="1783080" cy="320040"/>
          </a:xfrm>
          <a:prstGeom prst="roundRect">
            <a:avLst>
              <a:gd name="adj" fmla="val 40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41448" y="4326940"/>
            <a:ext cx="169163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مصدر وحقوق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" y="4315968"/>
            <a:ext cx="1417320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" y="4326940"/>
            <a:ext cx="132588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مراجعة التفاصيل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4944" y="4901183"/>
            <a:ext cx="10671048" cy="6492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34272" y="5047488"/>
            <a:ext cx="1883664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صورة ديوان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88152" y="5047488"/>
            <a:ext cx="2633472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100" b="0" lang="ar-JO">
                <a:solidFill>
                  <a:srgbClr val="66756B"/>
                </a:solidFill>
                <a:latin typeface="Noto Sans Arabic"/>
              </a:rPr>
              <a:t>مضافة مشتركة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95728" y="5065775"/>
            <a:ext cx="1783080" cy="320040"/>
          </a:xfrm>
          <a:prstGeom prst="roundRect">
            <a:avLst>
              <a:gd name="adj" fmla="val 40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41448" y="5076748"/>
            <a:ext cx="1691639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الخصوصية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6112" y="5065775"/>
            <a:ext cx="1417320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" y="5076748"/>
            <a:ext cx="132588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مراجعة التفاصيل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إدارة الفخذ والفروع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مسؤول محلي يرى نطاق الفخذ ولا يمتلك تعديل محتوى العشيرة المركزي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856231"/>
            <a:ext cx="3483864" cy="4224528"/>
          </a:xfrm>
          <a:prstGeom prst="roundRect">
            <a:avLst>
              <a:gd name="adj" fmla="val 16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2203704"/>
            <a:ext cx="2633472" cy="4389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200" b="1" lang="ar-JO">
                <a:solidFill>
                  <a:srgbClr val="FFFFFF"/>
                </a:solidFill>
                <a:latin typeface="Noto Sans Arabic"/>
              </a:rPr>
              <a:t>فخذ القواسمة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26080"/>
            <a:ext cx="268833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FFFFFF"/>
                </a:solidFill>
                <a:latin typeface="Noto Sans Arabic"/>
              </a:rPr>
              <a:t>البيانات والتاريخ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65576"/>
            <a:ext cx="268833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FFFFFF"/>
                </a:solidFill>
                <a:latin typeface="Noto Sans Arabic"/>
              </a:rPr>
              <a:t>الشجرة والمؤسس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05072"/>
            <a:ext cx="268833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FFFFFF"/>
                </a:solidFill>
                <a:latin typeface="Noto Sans Arabic"/>
              </a:rPr>
              <a:t>الديوان والصور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544568"/>
            <a:ext cx="268833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FFFFFF"/>
                </a:solidFill>
                <a:latin typeface="Noto Sans Arabic"/>
              </a:rPr>
              <a:t>الأخبار والمناسبات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084064"/>
            <a:ext cx="2688336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0" lang="ar-JO">
                <a:solidFill>
                  <a:srgbClr val="FFFFFF"/>
                </a:solidFill>
                <a:latin typeface="Noto Sans Arabic"/>
              </a:rPr>
              <a:t>الشخصيات والأرشيف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2415" y="1938528"/>
            <a:ext cx="6382512" cy="10698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22008" y="2139696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7" y="2139696"/>
            <a:ext cx="562356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طلبات الاعتماد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19" y="2578608"/>
            <a:ext cx="6089904" cy="365759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3 قيد المراجعة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2415" y="3182112"/>
            <a:ext cx="6382512" cy="10698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22008" y="3383280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7007" y="3383280"/>
            <a:ext cx="562356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صفحة الفخذ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3822192"/>
            <a:ext cx="6089904" cy="365759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نظرة عامة ومحتوى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" y="4425696"/>
            <a:ext cx="6382512" cy="10698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22008" y="4626864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7" y="4626864"/>
            <a:ext cx="562356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الزيارات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19" y="5065776"/>
            <a:ext cx="6089904" cy="365759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مؤشر تجريبي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مشرف المنصة — Super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واجهة مختلفة لإدارة العائلات والدومينات والهوية والصلاحيات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783080"/>
            <a:ext cx="1874519" cy="4389120"/>
          </a:xfrm>
          <a:prstGeom prst="roundRect">
            <a:avLst>
              <a:gd name="adj" fmla="val 16000"/>
            </a:avLst>
          </a:prstGeom>
          <a:solidFill>
            <a:srgbClr val="1C3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9256" y="2057400"/>
            <a:ext cx="1234440" cy="38404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700" b="1" lang="ar-JO">
                <a:solidFill>
                  <a:srgbClr val="FFFFFF"/>
                </a:solidFill>
                <a:latin typeface="Noto Sans Arabic"/>
              </a:rPr>
              <a:t>إدارة جذور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2743200"/>
            <a:ext cx="1426464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FFFFFF"/>
                </a:solidFill>
                <a:latin typeface="Noto Sans Arabic"/>
              </a:rPr>
              <a:t>العائلات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3145536"/>
            <a:ext cx="1426464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FFFFFF"/>
                </a:solidFill>
                <a:latin typeface="Noto Sans Arabic"/>
              </a:rPr>
              <a:t>النطاقات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3547872"/>
            <a:ext cx="1426464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FFFFFF"/>
                </a:solidFill>
                <a:latin typeface="Noto Sans Arabic"/>
              </a:rPr>
              <a:t>المستخدمون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3950208"/>
            <a:ext cx="1426464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FFFFFF"/>
                </a:solidFill>
                <a:latin typeface="Noto Sans Arabic"/>
              </a:rPr>
              <a:t>الأذونات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4352544"/>
            <a:ext cx="1426464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FFFFFF"/>
                </a:solidFill>
                <a:latin typeface="Noto Sans Arabic"/>
              </a:rPr>
              <a:t>الأشجار المشتركة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4754880"/>
            <a:ext cx="1426464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FFFFFF"/>
                </a:solidFill>
                <a:latin typeface="Noto Sans Arabic"/>
              </a:rPr>
              <a:t>سياسات النشر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5157216"/>
            <a:ext cx="1426464" cy="25603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FFFFFF"/>
                </a:solidFill>
                <a:latin typeface="Noto Sans Arabic"/>
              </a:rPr>
              <a:t>التدقيق والأمان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1975104"/>
            <a:ext cx="4197096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824" y="2176272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2176272"/>
            <a:ext cx="343814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العائلات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2615184"/>
            <a:ext cx="3904487" cy="6675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متعدد المستأجرين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47488" y="1975104"/>
            <a:ext cx="4197096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41663" y="2176272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79" y="2176272"/>
            <a:ext cx="343814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الدومينات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2615184"/>
            <a:ext cx="3904487" cy="6675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ربط وتحقق DNS/TLS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3557016"/>
            <a:ext cx="4197096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06824" y="3758184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758184"/>
            <a:ext cx="343814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المراجعات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" y="4197096"/>
            <a:ext cx="3904487" cy="6675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طلبات مشتركة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47488" y="3557016"/>
            <a:ext cx="4197096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41663" y="3758184"/>
            <a:ext cx="292608" cy="292608"/>
          </a:xfrm>
          <a:prstGeom prst="ellipse">
            <a:avLst/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79" y="3758184"/>
            <a:ext cx="3438144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الاستقرار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93792" y="4197096"/>
            <a:ext cx="3904487" cy="667512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900" b="0" lang="ar-JO">
                <a:solidFill>
                  <a:srgbClr val="66756B"/>
                </a:solidFill>
                <a:latin typeface="Noto Sans Arabic"/>
              </a:rPr>
              <a:t>صحة المنصة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نظام التصميم — Juthoor Design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مكونات وألوان وخطوط وحالات موحدة قابلة لإعادة الاستخدام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1993392"/>
            <a:ext cx="1746504" cy="1115568"/>
          </a:xfrm>
          <a:prstGeom prst="roundRect">
            <a:avLst>
              <a:gd name="adj" fmla="val 16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246120"/>
            <a:ext cx="173736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أخضر الهوية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3593592"/>
            <a:ext cx="173736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#133D32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5456" y="1993392"/>
            <a:ext cx="1746504" cy="1115568"/>
          </a:xfrm>
          <a:prstGeom prst="roundRect">
            <a:avLst>
              <a:gd name="adj" fmla="val 16000"/>
            </a:avLst>
          </a:prstGeom>
          <a:solidFill>
            <a:srgbClr val="2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05456" y="3246120"/>
            <a:ext cx="173736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أخضر ثانوي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5456" y="3593592"/>
            <a:ext cx="173736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#285D4E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8264" y="1993392"/>
            <a:ext cx="1746504" cy="1115568"/>
          </a:xfrm>
          <a:prstGeom prst="roundRect">
            <a:avLst>
              <a:gd name="adj" fmla="val 16000"/>
            </a:avLst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98264" y="3246120"/>
            <a:ext cx="173736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عاجي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3593592"/>
            <a:ext cx="173736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#F6F4EE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1" y="1993392"/>
            <a:ext cx="1746504" cy="1115568"/>
          </a:xfrm>
          <a:prstGeom prst="roundRect">
            <a:avLst>
              <a:gd name="adj" fmla="val 16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1" y="3246120"/>
            <a:ext cx="173736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رملي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1" y="3593592"/>
            <a:ext cx="173736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#EEE5D6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1993392"/>
            <a:ext cx="1746504" cy="1115568"/>
          </a:xfrm>
          <a:prstGeom prst="roundRect">
            <a:avLst>
              <a:gd name="adj" fmla="val 16000"/>
            </a:avLst>
          </a:prstGeom>
          <a:solidFill>
            <a:srgbClr val="B28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3246120"/>
            <a:ext cx="173736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ذهبي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593592"/>
            <a:ext cx="173736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#B28C54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76688" y="1993392"/>
            <a:ext cx="1746504" cy="1115568"/>
          </a:xfrm>
          <a:prstGeom prst="roundRect">
            <a:avLst>
              <a:gd name="adj" fmla="val 16000"/>
            </a:avLst>
          </a:prstGeom>
          <a:solidFill>
            <a:srgbClr val="B84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6688" y="3246120"/>
            <a:ext cx="173736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تحذير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6688" y="3593592"/>
            <a:ext cx="1737360" cy="26517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#B84F47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334256"/>
            <a:ext cx="10835640" cy="13533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8408" y="4864608"/>
            <a:ext cx="2377440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" y="4875580"/>
            <a:ext cx="22860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زر أساسي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11880" y="4864608"/>
            <a:ext cx="2377440" cy="320040"/>
          </a:xfrm>
          <a:prstGeom prst="roundRect">
            <a:avLst>
              <a:gd name="adj" fmla="val 40000"/>
            </a:avLst>
          </a:prstGeom>
          <a:solidFill>
            <a:srgbClr val="E5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4875580"/>
            <a:ext cx="22860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زر ثانوي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45352" y="4864608"/>
            <a:ext cx="2377440" cy="320040"/>
          </a:xfrm>
          <a:prstGeom prst="roundRect">
            <a:avLst>
              <a:gd name="adj" fmla="val 40000"/>
            </a:avLst>
          </a:prstGeom>
          <a:solidFill>
            <a:srgbClr val="B28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4875580"/>
            <a:ext cx="22860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شارة توثيق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78824" y="4864608"/>
            <a:ext cx="2377440" cy="320040"/>
          </a:xfrm>
          <a:prstGeom prst="roundRect">
            <a:avLst>
              <a:gd name="adj" fmla="val 40000"/>
            </a:avLst>
          </a:prstGeom>
          <a:solidFill>
            <a:srgbClr val="F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24544" y="4875580"/>
            <a:ext cx="2286000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B84F47"/>
                </a:solidFill>
                <a:latin typeface="Noto Sans Arabic"/>
              </a:rPr>
              <a:t>قيد المراجعة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ما هو موجود وما هو جديد؟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خريطة التطبيق التدريجي على المشروع الحقيقي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1828800"/>
            <a:ext cx="1078992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46336" y="1947672"/>
            <a:ext cx="1545336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92056" y="1958644"/>
            <a:ext cx="145389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منفذ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1956816"/>
            <a:ext cx="7973568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C352C"/>
                </a:solidFill>
                <a:latin typeface="Noto Sans Arabic"/>
              </a:rPr>
              <a:t>الأنساب والشارات والفلترة والوسائط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" y="2496312"/>
            <a:ext cx="1078992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46336" y="2615184"/>
            <a:ext cx="1545336" cy="320040"/>
          </a:xfrm>
          <a:prstGeom prst="roundRect">
            <a:avLst>
              <a:gd name="adj" fmla="val 40000"/>
            </a:avLst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92056" y="2626156"/>
            <a:ext cx="145389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FFFFFF"/>
                </a:solidFill>
                <a:latin typeface="Noto Sans Arabic"/>
              </a:rPr>
              <a:t>منفذ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624328"/>
            <a:ext cx="7973568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C352C"/>
                </a:solidFill>
                <a:latin typeface="Noto Sans Arabic"/>
              </a:rPr>
              <a:t>الأخبار والمناسبات والدليل حسب وثائق GitHub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" y="3163824"/>
            <a:ext cx="1078992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46336" y="3282696"/>
            <a:ext cx="1545336" cy="320040"/>
          </a:xfrm>
          <a:prstGeom prst="roundRect">
            <a:avLst>
              <a:gd name="adj" fmla="val 40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92056" y="3293668"/>
            <a:ext cx="145389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جديد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291840"/>
            <a:ext cx="7973568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C352C"/>
                </a:solidFill>
                <a:latin typeface="Noto Sans Arabic"/>
              </a:rPr>
              <a:t>Subdomain للعائلة + Routing ومحتوى Landing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" y="3831335"/>
            <a:ext cx="1078992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46336" y="3950207"/>
            <a:ext cx="1545336" cy="320040"/>
          </a:xfrm>
          <a:prstGeom prst="roundRect">
            <a:avLst>
              <a:gd name="adj" fmla="val 40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2056" y="3961180"/>
            <a:ext cx="145389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جديد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959351"/>
            <a:ext cx="7973568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C352C"/>
                </a:solidFill>
                <a:latin typeface="Noto Sans Arabic"/>
              </a:rPr>
              <a:t>إعادة تصميم الشجرة والبوابات والداشبورد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" y="4498848"/>
            <a:ext cx="1078992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46336" y="4617720"/>
            <a:ext cx="1545336" cy="320040"/>
          </a:xfrm>
          <a:prstGeom prst="roundRect">
            <a:avLst>
              <a:gd name="adj" fmla="val 40000"/>
            </a:avLst>
          </a:prstGeom>
          <a:solidFill>
            <a:srgbClr val="EE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92056" y="4628692"/>
            <a:ext cx="145389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واجهة فقط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626864"/>
            <a:ext cx="7973568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C352C"/>
                </a:solidFill>
                <a:latin typeface="Noto Sans Arabic"/>
              </a:rPr>
              <a:t>رفع CV / طلب موظف / مبادرات الرد السريع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" y="5166360"/>
            <a:ext cx="1078992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46336" y="5285232"/>
            <a:ext cx="1545336" cy="320040"/>
          </a:xfrm>
          <a:prstGeom prst="roundRect">
            <a:avLst>
              <a:gd name="adj" fmla="val 40000"/>
            </a:avLst>
          </a:prstGeom>
          <a:solidFill>
            <a:srgbClr val="F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92056" y="5296204"/>
            <a:ext cx="1453895" cy="23774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مؤجل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294376"/>
            <a:ext cx="7973568" cy="28346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200" b="1" lang="ar-JO">
                <a:solidFill>
                  <a:srgbClr val="1C352C"/>
                </a:solidFill>
                <a:latin typeface="Noto Sans Arabic"/>
              </a:rPr>
              <a:t>GEDCOM والأم/الزوجة وFacebook API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128016"/>
            <a:ext cx="347472" cy="347472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0643615" y="237744"/>
            <a:ext cx="0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70463" y="22860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80192" y="20116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5055" y="2651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88752" y="31089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44784" y="118872"/>
            <a:ext cx="1005840" cy="36576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800" b="1" lang="ar-JO">
                <a:solidFill>
                  <a:srgbClr val="133D32"/>
                </a:solidFill>
                <a:latin typeface="Noto Sans Arabic"/>
              </a:rPr>
              <a:t>جذور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1" lang="ar-JO">
                <a:solidFill>
                  <a:srgbClr val="133D32"/>
                </a:solidFill>
                <a:latin typeface="Noto Sans Arabic"/>
              </a:rPr>
              <a:t>الرئيسية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الشجرة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الأفخاذ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5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التاريخ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الدواوين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دليل السند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1" y="182880"/>
            <a:ext cx="1078992" cy="292608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الأخبار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41248"/>
            <a:ext cx="3154680" cy="50292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2300" b="1" lang="ar-JO">
                <a:solidFill>
                  <a:srgbClr val="133D32"/>
                </a:solidFill>
                <a:latin typeface="Noto Sans Arabic"/>
              </a:rPr>
              <a:t>تسلسل التنفيذ بعد اعتماد التصميم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35024"/>
            <a:ext cx="5120640" cy="329184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r" rtl="1"/>
            <a:r>
              <a:rPr sz="1000" b="0" lang="ar-JO">
                <a:solidFill>
                  <a:srgbClr val="66756B"/>
                </a:solidFill>
                <a:latin typeface="Noto Sans Arabic"/>
              </a:rPr>
              <a:t>لا تعديل مباشر على بيئة الإنتاج قبل مقارنة الشاشات ومراجعة الاختبارات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2084831"/>
            <a:ext cx="2697480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51176" y="2212848"/>
            <a:ext cx="457200" cy="457200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5184" y="2331720"/>
            <a:ext cx="3200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FFFFFF"/>
                </a:solidFill>
                <a:latin typeface="Noto Sans Arabic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706624"/>
            <a:ext cx="2404872" cy="44805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جرد وتوثيق الكود والشاشات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5576" y="2084831"/>
            <a:ext cx="2697480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04104" y="2212848"/>
            <a:ext cx="457200" cy="457200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8112" y="2331720"/>
            <a:ext cx="3200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FFFFFF"/>
                </a:solidFill>
                <a:latin typeface="Noto Sans Arabi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2706624"/>
            <a:ext cx="2404872" cy="44805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اعتماد الهوية ونظام التصميم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8504" y="2084831"/>
            <a:ext cx="2697480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57032" y="2212848"/>
            <a:ext cx="457200" cy="457200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331720"/>
            <a:ext cx="3200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FFFFFF"/>
                </a:solidFill>
                <a:latin typeface="Noto Sans Arabi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2706624"/>
            <a:ext cx="2404872" cy="44805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Family Subdomain + Landing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71432" y="2084831"/>
            <a:ext cx="2697480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109959" y="2212848"/>
            <a:ext cx="457200" cy="457200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73967" y="2331720"/>
            <a:ext cx="3200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FFFFFF"/>
                </a:solidFill>
                <a:latin typeface="Noto Sans Arabic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2706624"/>
            <a:ext cx="2404872" cy="44805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الشجرة الجامعة والمتفرعة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" y="3767328"/>
            <a:ext cx="2697480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551176" y="3895344"/>
            <a:ext cx="457200" cy="457200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15184" y="4014216"/>
            <a:ext cx="3200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FFFFFF"/>
                </a:solidFill>
                <a:latin typeface="Noto Sans Arabic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4389120"/>
            <a:ext cx="2404872" cy="44805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صفحات الأفخاذ والمحتوى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65576" y="3767328"/>
            <a:ext cx="2697480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04104" y="3895344"/>
            <a:ext cx="457200" cy="457200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68112" y="4014216"/>
            <a:ext cx="3200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FFFFFF"/>
                </a:solidFill>
                <a:latin typeface="Noto Sans Arabic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2736" y="4389120"/>
            <a:ext cx="2404872" cy="44805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دليل السند والأخبار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18504" y="3767328"/>
            <a:ext cx="2697480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57032" y="3895344"/>
            <a:ext cx="457200" cy="457200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014216"/>
            <a:ext cx="3200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FFFFFF"/>
                </a:solidFill>
                <a:latin typeface="Noto Sans Arabic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4389120"/>
            <a:ext cx="2404872" cy="44805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لوحات الإدارة والصلاحيات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71432" y="3767328"/>
            <a:ext cx="2697480" cy="13898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109959" y="3895344"/>
            <a:ext cx="457200" cy="457200"/>
          </a:xfrm>
          <a:prstGeom prst="ellipse">
            <a:avLst/>
          </a:prstGeom>
          <a:solidFill>
            <a:srgbClr val="13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73967" y="4014216"/>
            <a:ext cx="320040" cy="18288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900" b="1" lang="ar-JO">
                <a:solidFill>
                  <a:srgbClr val="FFFFFF"/>
                </a:solidFill>
                <a:latin typeface="Noto Sans Arabic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08592" y="4389120"/>
            <a:ext cx="2404872" cy="448056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1200" b="1" lang="ar-JO">
                <a:solidFill>
                  <a:srgbClr val="133D32"/>
                </a:solidFill>
                <a:latin typeface="Noto Sans Arabic"/>
              </a:rPr>
              <a:t>اختبار ومقارنة قبل النشر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11480" y="6519672"/>
            <a:ext cx="11384280" cy="0"/>
          </a:xfrm>
          <a:prstGeom prst="line">
            <a:avLst/>
          </a:prstGeom>
          <a:ln w="7620">
            <a:solidFill>
              <a:srgbClr val="E4E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68880" y="6537960"/>
            <a:ext cx="713232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ctr" rtl="1"/>
            <a:r>
              <a:rPr sz="800" b="0" lang="ar-JO">
                <a:solidFill>
                  <a:srgbClr val="66756B"/>
                </a:solidFill>
                <a:latin typeface="Noto Sans Arabic"/>
              </a:rPr>
              <a:t>مفهوم تصميمي · بيانات توضيحية وليست إحصاءات فعلية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" y="6537960"/>
            <a:ext cx="1828800" cy="228600"/>
          </a:xfrm>
          <a:prstGeom prst="rect">
            <a:avLst/>
          </a:prstGeom>
          <a:noFill/>
        </p:spPr>
        <p:txBody>
          <a:bodyPr wrap="square" lIns="54864" rIns="54864" tIns="18288" bIns="0">
            <a:spAutoFit/>
          </a:bodyPr>
          <a:lstStyle/>
          <a:p>
            <a:pPr algn="l" rtl="1"/>
            <a:r>
              <a:rPr sz="800" b="1" lang="ar-JO">
                <a:solidFill>
                  <a:srgbClr val="133D32"/>
                </a:solidFill>
                <a:latin typeface="Noto Sans Arabic"/>
              </a:rPr>
              <a:t>JUTHOOR  /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